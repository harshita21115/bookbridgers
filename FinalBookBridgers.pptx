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hau Philomene" charset="1" panose="02000806040000020003"/>
      <p:regular r:id="rId18"/>
    </p:embeddedFont>
    <p:embeddedFont>
      <p:font typeface="Poppins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7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8.png" Type="http://schemas.openxmlformats.org/officeDocument/2006/relationships/image"/><Relationship Id="rId12" Target="../media/image7.png" Type="http://schemas.openxmlformats.org/officeDocument/2006/relationships/image"/><Relationship Id="rId13" Target="../media/image9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8.png" Type="http://schemas.openxmlformats.org/officeDocument/2006/relationships/image"/><Relationship Id="rId5" Target="../media/image7.png" Type="http://schemas.openxmlformats.org/officeDocument/2006/relationships/image"/><Relationship Id="rId6" Target="../media/image9.png" Type="http://schemas.openxmlformats.org/officeDocument/2006/relationships/image"/><Relationship Id="rId7" Target="../media/image21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8.png" Type="http://schemas.openxmlformats.org/officeDocument/2006/relationships/image"/><Relationship Id="rId5" Target="../media/image7.png" Type="http://schemas.openxmlformats.org/officeDocument/2006/relationships/image"/><Relationship Id="rId6" Target="../media/image9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8.png" Type="http://schemas.openxmlformats.org/officeDocument/2006/relationships/image"/><Relationship Id="rId5" Target="../media/image7.png" Type="http://schemas.openxmlformats.org/officeDocument/2006/relationships/image"/><Relationship Id="rId6" Target="../media/image9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7.png" Type="http://schemas.openxmlformats.org/officeDocument/2006/relationships/image"/><Relationship Id="rId12" Target="../media/image9.png" Type="http://schemas.openxmlformats.org/officeDocument/2006/relationships/image"/><Relationship Id="rId13" Target="../media/image28.pn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8.png" Type="http://schemas.openxmlformats.org/officeDocument/2006/relationships/image"/><Relationship Id="rId7" Target="../media/image7.png" Type="http://schemas.openxmlformats.org/officeDocument/2006/relationships/image"/><Relationship Id="rId8" Target="../media/image9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8.png" Type="http://schemas.openxmlformats.org/officeDocument/2006/relationships/image"/><Relationship Id="rId7" Target="../media/image7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2.png" Type="http://schemas.openxmlformats.org/officeDocument/2006/relationships/image"/><Relationship Id="rId13" Target="../media/image3.svg" Type="http://schemas.openxmlformats.org/officeDocument/2006/relationships/image"/><Relationship Id="rId14" Target="../media/image9.png" Type="http://schemas.openxmlformats.org/officeDocument/2006/relationships/image"/><Relationship Id="rId15" Target="../media/image7.png" Type="http://schemas.openxmlformats.org/officeDocument/2006/relationships/image"/><Relationship Id="rId16" Target="../media/image8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67093"/>
            <a:ext cx="4135374" cy="8229600"/>
          </a:xfrm>
          <a:custGeom>
            <a:avLst/>
            <a:gdLst/>
            <a:ahLst/>
            <a:cxnLst/>
            <a:rect r="r" b="b" t="t" l="l"/>
            <a:pathLst>
              <a:path h="8229600" w="4135374">
                <a:moveTo>
                  <a:pt x="0" y="0"/>
                </a:moveTo>
                <a:lnTo>
                  <a:pt x="4135374" y="0"/>
                </a:lnTo>
                <a:lnTo>
                  <a:pt x="413537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54290" y="4770775"/>
            <a:ext cx="7201605" cy="4080189"/>
          </a:xfrm>
          <a:custGeom>
            <a:avLst/>
            <a:gdLst/>
            <a:ahLst/>
            <a:cxnLst/>
            <a:rect r="r" b="b" t="t" l="l"/>
            <a:pathLst>
              <a:path h="4080189" w="7201605">
                <a:moveTo>
                  <a:pt x="0" y="0"/>
                </a:moveTo>
                <a:lnTo>
                  <a:pt x="7201605" y="0"/>
                </a:lnTo>
                <a:lnTo>
                  <a:pt x="7201605" y="4080189"/>
                </a:lnTo>
                <a:lnTo>
                  <a:pt x="0" y="40801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957477" y="706866"/>
            <a:ext cx="8975640" cy="7950921"/>
          </a:xfrm>
          <a:custGeom>
            <a:avLst/>
            <a:gdLst/>
            <a:ahLst/>
            <a:cxnLst/>
            <a:rect r="r" b="b" t="t" l="l"/>
            <a:pathLst>
              <a:path h="7950921" w="8975640">
                <a:moveTo>
                  <a:pt x="8975641" y="0"/>
                </a:moveTo>
                <a:lnTo>
                  <a:pt x="0" y="0"/>
                </a:lnTo>
                <a:lnTo>
                  <a:pt x="0" y="7950922"/>
                </a:lnTo>
                <a:lnTo>
                  <a:pt x="8975641" y="7950922"/>
                </a:lnTo>
                <a:lnTo>
                  <a:pt x="8975641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47559" y="3639911"/>
            <a:ext cx="4940441" cy="5017877"/>
          </a:xfrm>
          <a:custGeom>
            <a:avLst/>
            <a:gdLst/>
            <a:ahLst/>
            <a:cxnLst/>
            <a:rect r="r" b="b" t="t" l="l"/>
            <a:pathLst>
              <a:path h="5017877" w="4940441">
                <a:moveTo>
                  <a:pt x="0" y="0"/>
                </a:moveTo>
                <a:lnTo>
                  <a:pt x="4940441" y="0"/>
                </a:lnTo>
                <a:lnTo>
                  <a:pt x="4940441" y="5017877"/>
                </a:lnTo>
                <a:lnTo>
                  <a:pt x="0" y="50178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0104" y="0"/>
            <a:ext cx="2138393" cy="1531232"/>
          </a:xfrm>
          <a:custGeom>
            <a:avLst/>
            <a:gdLst/>
            <a:ahLst/>
            <a:cxnLst/>
            <a:rect r="r" b="b" t="t" l="l"/>
            <a:pathLst>
              <a:path h="1531232" w="2138393">
                <a:moveTo>
                  <a:pt x="0" y="0"/>
                </a:moveTo>
                <a:lnTo>
                  <a:pt x="2138392" y="0"/>
                </a:lnTo>
                <a:lnTo>
                  <a:pt x="2138392" y="1531232"/>
                </a:lnTo>
                <a:lnTo>
                  <a:pt x="0" y="15312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36" t="0" r="0" b="-296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9558115"/>
            <a:ext cx="18288000" cy="728885"/>
          </a:xfrm>
          <a:custGeom>
            <a:avLst/>
            <a:gdLst/>
            <a:ahLst/>
            <a:cxnLst/>
            <a:rect r="r" b="b" t="t" l="l"/>
            <a:pathLst>
              <a:path h="728885" w="18288000">
                <a:moveTo>
                  <a:pt x="0" y="0"/>
                </a:moveTo>
                <a:lnTo>
                  <a:pt x="18288000" y="0"/>
                </a:lnTo>
                <a:lnTo>
                  <a:pt x="18288000" y="728885"/>
                </a:lnTo>
                <a:lnTo>
                  <a:pt x="0" y="7288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9397" r="0" b="-3055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7619"/>
            <a:ext cx="3499329" cy="1021081"/>
          </a:xfrm>
          <a:custGeom>
            <a:avLst/>
            <a:gdLst/>
            <a:ahLst/>
            <a:cxnLst/>
            <a:rect r="r" b="b" t="t" l="l"/>
            <a:pathLst>
              <a:path h="1021081" w="3499329">
                <a:moveTo>
                  <a:pt x="0" y="0"/>
                </a:moveTo>
                <a:lnTo>
                  <a:pt x="3499329" y="0"/>
                </a:lnTo>
                <a:lnTo>
                  <a:pt x="3499329" y="1021081"/>
                </a:lnTo>
                <a:lnTo>
                  <a:pt x="0" y="1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01835" y="871818"/>
            <a:ext cx="5289181" cy="296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9"/>
              </a:lnSpc>
            </a:pPr>
            <a:r>
              <a:rPr lang="en-US" sz="15999" spc="47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BOOK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72508" y="2893995"/>
            <a:ext cx="9284969" cy="345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9"/>
              </a:lnSpc>
            </a:pPr>
            <a:r>
              <a:rPr lang="en-US" sz="15999" spc="47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BRIDGERS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33087" y="6715619"/>
            <a:ext cx="7367348" cy="1673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5"/>
              </a:lnSpc>
            </a:pPr>
            <a:r>
              <a:rPr lang="en-US" b="true" sz="3110" spc="62">
                <a:solidFill>
                  <a:srgbClr val="713C1A"/>
                </a:solidFill>
                <a:latin typeface="Poppins Bold"/>
                <a:ea typeface="Poppins Bold"/>
                <a:cs typeface="Poppins Bold"/>
                <a:sym typeface="Poppins Bold"/>
              </a:rPr>
              <a:t>HARSHITA BAGWE-16014023024</a:t>
            </a:r>
          </a:p>
          <a:p>
            <a:pPr algn="ctr">
              <a:lnSpc>
                <a:spcPts val="4355"/>
              </a:lnSpc>
            </a:pPr>
            <a:r>
              <a:rPr lang="en-US" b="true" sz="3110" spc="62">
                <a:solidFill>
                  <a:srgbClr val="713C1A"/>
                </a:solidFill>
                <a:latin typeface="Poppins Bold"/>
                <a:ea typeface="Poppins Bold"/>
                <a:cs typeface="Poppins Bold"/>
                <a:sym typeface="Poppins Bold"/>
              </a:rPr>
              <a:t>OMSING PAWAR-16014023036</a:t>
            </a:r>
          </a:p>
          <a:p>
            <a:pPr algn="ctr">
              <a:lnSpc>
                <a:spcPts val="4355"/>
              </a:lnSpc>
            </a:pPr>
            <a:r>
              <a:rPr lang="en-US" b="true" sz="3110" spc="62">
                <a:solidFill>
                  <a:srgbClr val="713C1A"/>
                </a:solidFill>
                <a:latin typeface="Poppins Bold"/>
                <a:ea typeface="Poppins Bold"/>
                <a:cs typeface="Poppins Bold"/>
                <a:sym typeface="Poppins Bold"/>
              </a:rPr>
              <a:t>TY EXCP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97770" y="207298"/>
            <a:ext cx="4092460" cy="1110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3"/>
              </a:lnSpc>
            </a:pPr>
            <a:r>
              <a:rPr lang="en-US" sz="5574" spc="167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WELCOME 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363852"/>
            <a:ext cx="3280157" cy="2070045"/>
          </a:xfrm>
          <a:custGeom>
            <a:avLst/>
            <a:gdLst/>
            <a:ahLst/>
            <a:cxnLst/>
            <a:rect r="r" b="b" t="t" l="l"/>
            <a:pathLst>
              <a:path h="2070045" w="3280157">
                <a:moveTo>
                  <a:pt x="0" y="0"/>
                </a:moveTo>
                <a:lnTo>
                  <a:pt x="3280157" y="0"/>
                </a:lnTo>
                <a:lnTo>
                  <a:pt x="3280157" y="2070045"/>
                </a:lnTo>
                <a:lnTo>
                  <a:pt x="0" y="2070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558115"/>
            <a:ext cx="18288000" cy="728885"/>
          </a:xfrm>
          <a:custGeom>
            <a:avLst/>
            <a:gdLst/>
            <a:ahLst/>
            <a:cxnLst/>
            <a:rect r="r" b="b" t="t" l="l"/>
            <a:pathLst>
              <a:path h="728885" w="18288000">
                <a:moveTo>
                  <a:pt x="0" y="0"/>
                </a:moveTo>
                <a:lnTo>
                  <a:pt x="18288000" y="0"/>
                </a:lnTo>
                <a:lnTo>
                  <a:pt x="18288000" y="728885"/>
                </a:lnTo>
                <a:lnTo>
                  <a:pt x="0" y="728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397" r="0" b="-3055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90104" y="0"/>
            <a:ext cx="2138393" cy="1531232"/>
          </a:xfrm>
          <a:custGeom>
            <a:avLst/>
            <a:gdLst/>
            <a:ahLst/>
            <a:cxnLst/>
            <a:rect r="r" b="b" t="t" l="l"/>
            <a:pathLst>
              <a:path h="1531232" w="2138393">
                <a:moveTo>
                  <a:pt x="0" y="0"/>
                </a:moveTo>
                <a:lnTo>
                  <a:pt x="2138392" y="0"/>
                </a:lnTo>
                <a:lnTo>
                  <a:pt x="2138392" y="1531232"/>
                </a:lnTo>
                <a:lnTo>
                  <a:pt x="0" y="1531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6" t="0" r="0" b="-296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619"/>
            <a:ext cx="3499329" cy="1021081"/>
          </a:xfrm>
          <a:custGeom>
            <a:avLst/>
            <a:gdLst/>
            <a:ahLst/>
            <a:cxnLst/>
            <a:rect r="r" b="b" t="t" l="l"/>
            <a:pathLst>
              <a:path h="1021081" w="3499329">
                <a:moveTo>
                  <a:pt x="0" y="0"/>
                </a:moveTo>
                <a:lnTo>
                  <a:pt x="3499329" y="0"/>
                </a:lnTo>
                <a:lnTo>
                  <a:pt x="3499329" y="1021081"/>
                </a:lnTo>
                <a:lnTo>
                  <a:pt x="0" y="1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69306" y="143548"/>
            <a:ext cx="9856171" cy="2025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7"/>
              </a:lnSpc>
            </a:pPr>
            <a:r>
              <a:rPr lang="en-US" sz="8591" spc="257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9664" y="2580302"/>
            <a:ext cx="14785842" cy="5309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1"/>
              </a:lnSpc>
              <a:spcBef>
                <a:spcPct val="0"/>
              </a:spcBef>
            </a:pPr>
            <a:r>
              <a:rPr lang="en-US" sz="4322" spc="129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STUDENTS </a:t>
            </a:r>
            <a:r>
              <a:rPr lang="en-US" sz="4322" spc="129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OFTEN STRUGGLE TO ACCESS REQUIRED BOOKS ON TIME, AFFECTING THEIR LEARNING. LIBRARIES HAVE RESOURCES BUT LIMITED DISCOVERABILITY, WHILE MANY USEFUL BOOKS REMAIN IDLE WITH DONORS. A COMMUNITY DRIVEN PLATFORM IS NEEDED TO BRIDGE STUDENTS, LIBRARIES, AND DONORS FOR EASIER BOOK ACCESS.</a:t>
            </a:r>
          </a:p>
          <a:p>
            <a:pPr algn="ctr">
              <a:lnSpc>
                <a:spcPts val="60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828" y="7594336"/>
            <a:ext cx="4378934" cy="1809075"/>
          </a:xfrm>
          <a:custGeom>
            <a:avLst/>
            <a:gdLst/>
            <a:ahLst/>
            <a:cxnLst/>
            <a:rect r="r" b="b" t="t" l="l"/>
            <a:pathLst>
              <a:path h="1809075" w="4378934">
                <a:moveTo>
                  <a:pt x="0" y="0"/>
                </a:moveTo>
                <a:lnTo>
                  <a:pt x="4378934" y="0"/>
                </a:lnTo>
                <a:lnTo>
                  <a:pt x="4378934" y="1809075"/>
                </a:lnTo>
                <a:lnTo>
                  <a:pt x="0" y="180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25669" y="7834062"/>
            <a:ext cx="4579902" cy="1424238"/>
          </a:xfrm>
          <a:custGeom>
            <a:avLst/>
            <a:gdLst/>
            <a:ahLst/>
            <a:cxnLst/>
            <a:rect r="r" b="b" t="t" l="l"/>
            <a:pathLst>
              <a:path h="1424238" w="4579902">
                <a:moveTo>
                  <a:pt x="0" y="0"/>
                </a:moveTo>
                <a:lnTo>
                  <a:pt x="4579901" y="0"/>
                </a:lnTo>
                <a:lnTo>
                  <a:pt x="4579901" y="1424238"/>
                </a:lnTo>
                <a:lnTo>
                  <a:pt x="0" y="1424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70606" y="2713000"/>
            <a:ext cx="3979712" cy="3197035"/>
          </a:xfrm>
          <a:custGeom>
            <a:avLst/>
            <a:gdLst/>
            <a:ahLst/>
            <a:cxnLst/>
            <a:rect r="r" b="b" t="t" l="l"/>
            <a:pathLst>
              <a:path h="3197035" w="3979712">
                <a:moveTo>
                  <a:pt x="0" y="0"/>
                </a:moveTo>
                <a:lnTo>
                  <a:pt x="3979712" y="0"/>
                </a:lnTo>
                <a:lnTo>
                  <a:pt x="3979712" y="3197036"/>
                </a:lnTo>
                <a:lnTo>
                  <a:pt x="0" y="319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25669" y="2181330"/>
            <a:ext cx="5065966" cy="3197035"/>
          </a:xfrm>
          <a:custGeom>
            <a:avLst/>
            <a:gdLst/>
            <a:ahLst/>
            <a:cxnLst/>
            <a:rect r="r" b="b" t="t" l="l"/>
            <a:pathLst>
              <a:path h="3197035" w="5065966">
                <a:moveTo>
                  <a:pt x="0" y="0"/>
                </a:moveTo>
                <a:lnTo>
                  <a:pt x="5065965" y="0"/>
                </a:lnTo>
                <a:lnTo>
                  <a:pt x="5065965" y="3197035"/>
                </a:lnTo>
                <a:lnTo>
                  <a:pt x="0" y="3197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-1269828" y="5876137"/>
            <a:ext cx="7193636" cy="4046420"/>
            <a:chOff x="0" y="0"/>
            <a:chExt cx="2438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939290" y="1328420"/>
              <a:ext cx="20518121" cy="11057890"/>
            </a:xfrm>
            <a:custGeom>
              <a:avLst/>
              <a:gdLst/>
              <a:ahLst/>
              <a:cxnLst/>
              <a:rect r="r" b="b" t="t" l="l"/>
              <a:pathLst>
                <a:path h="11057890" w="20518121">
                  <a:moveTo>
                    <a:pt x="20518121" y="1266190"/>
                  </a:moveTo>
                  <a:lnTo>
                    <a:pt x="20518121" y="9791700"/>
                  </a:lnTo>
                  <a:cubicBezTo>
                    <a:pt x="20518121" y="10140950"/>
                    <a:pt x="20375881" y="10458450"/>
                    <a:pt x="20147281" y="10687050"/>
                  </a:cubicBezTo>
                  <a:cubicBezTo>
                    <a:pt x="19918681" y="10915650"/>
                    <a:pt x="19601181" y="11057890"/>
                    <a:pt x="19251931" y="11057890"/>
                  </a:cubicBezTo>
                  <a:lnTo>
                    <a:pt x="1266190" y="11057890"/>
                  </a:lnTo>
                  <a:cubicBezTo>
                    <a:pt x="916940" y="11057890"/>
                    <a:pt x="599440" y="10915650"/>
                    <a:pt x="370840" y="10687050"/>
                  </a:cubicBezTo>
                  <a:cubicBezTo>
                    <a:pt x="142240" y="10458450"/>
                    <a:pt x="0" y="10140950"/>
                    <a:pt x="0" y="9791700"/>
                  </a:cubicBezTo>
                  <a:lnTo>
                    <a:pt x="0" y="1266190"/>
                  </a:lnTo>
                  <a:cubicBezTo>
                    <a:pt x="0" y="916940"/>
                    <a:pt x="142240" y="599440"/>
                    <a:pt x="370840" y="370840"/>
                  </a:cubicBezTo>
                  <a:cubicBezTo>
                    <a:pt x="599440" y="142240"/>
                    <a:pt x="916940" y="0"/>
                    <a:pt x="1266190" y="0"/>
                  </a:cubicBezTo>
                  <a:lnTo>
                    <a:pt x="19251930" y="0"/>
                  </a:lnTo>
                  <a:cubicBezTo>
                    <a:pt x="19601180" y="0"/>
                    <a:pt x="19918680" y="142240"/>
                    <a:pt x="20147280" y="370840"/>
                  </a:cubicBezTo>
                  <a:cubicBezTo>
                    <a:pt x="20375880" y="599440"/>
                    <a:pt x="20518119" y="916940"/>
                    <a:pt x="20518119" y="1266190"/>
                  </a:cubicBezTo>
                  <a:close/>
                </a:path>
              </a:pathLst>
            </a:custGeom>
            <a:blipFill>
              <a:blip r:embed="rId10"/>
              <a:stretch>
                <a:fillRect l="-7826" t="0" r="-7826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9558115"/>
            <a:ext cx="18288000" cy="728885"/>
          </a:xfrm>
          <a:custGeom>
            <a:avLst/>
            <a:gdLst/>
            <a:ahLst/>
            <a:cxnLst/>
            <a:rect r="r" b="b" t="t" l="l"/>
            <a:pathLst>
              <a:path h="728885" w="18288000">
                <a:moveTo>
                  <a:pt x="0" y="0"/>
                </a:moveTo>
                <a:lnTo>
                  <a:pt x="18288000" y="0"/>
                </a:lnTo>
                <a:lnTo>
                  <a:pt x="18288000" y="728885"/>
                </a:lnTo>
                <a:lnTo>
                  <a:pt x="0" y="7288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9397" r="0" b="-3055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90104" y="0"/>
            <a:ext cx="2138393" cy="1531232"/>
          </a:xfrm>
          <a:custGeom>
            <a:avLst/>
            <a:gdLst/>
            <a:ahLst/>
            <a:cxnLst/>
            <a:rect r="r" b="b" t="t" l="l"/>
            <a:pathLst>
              <a:path h="1531232" w="2138393">
                <a:moveTo>
                  <a:pt x="0" y="0"/>
                </a:moveTo>
                <a:lnTo>
                  <a:pt x="2138392" y="0"/>
                </a:lnTo>
                <a:lnTo>
                  <a:pt x="2138392" y="1531232"/>
                </a:lnTo>
                <a:lnTo>
                  <a:pt x="0" y="153123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536" t="0" r="0" b="-296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7619"/>
            <a:ext cx="3499329" cy="1021081"/>
          </a:xfrm>
          <a:custGeom>
            <a:avLst/>
            <a:gdLst/>
            <a:ahLst/>
            <a:cxnLst/>
            <a:rect r="r" b="b" t="t" l="l"/>
            <a:pathLst>
              <a:path h="1021081" w="3499329">
                <a:moveTo>
                  <a:pt x="0" y="0"/>
                </a:moveTo>
                <a:lnTo>
                  <a:pt x="3499329" y="0"/>
                </a:lnTo>
                <a:lnTo>
                  <a:pt x="3499329" y="1021081"/>
                </a:lnTo>
                <a:lnTo>
                  <a:pt x="0" y="1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499329" y="2599511"/>
            <a:ext cx="10863864" cy="226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1"/>
              </a:lnSpc>
              <a:spcBef>
                <a:spcPct val="0"/>
              </a:spcBef>
            </a:pPr>
            <a:r>
              <a:rPr lang="en-US" sz="4322" spc="129" strike="noStrike" u="none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BRIDGING STUDENTS, LIBRARIES, AND DONORS TO MAKE BOOKS ACCESSIBLE FOR EVERYONE </a:t>
            </a:r>
          </a:p>
        </p:txBody>
      </p:sp>
      <p:sp>
        <p:nvSpPr>
          <p:cNvPr name="TextBox 13" id="13"/>
          <p:cNvSpPr txBox="true"/>
          <p:nvPr/>
        </p:nvSpPr>
        <p:spPr>
          <a:xfrm rot="91649">
            <a:off x="4663255" y="155039"/>
            <a:ext cx="9046681" cy="189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58"/>
              </a:lnSpc>
            </a:pPr>
            <a:r>
              <a:rPr lang="en-US" sz="8327" spc="24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PROJECT OBJECTIVE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23808" y="5302165"/>
            <a:ext cx="12364192" cy="431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112" spc="12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              </a:t>
            </a:r>
            <a:r>
              <a:rPr lang="en-US" sz="4112" spc="12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BOOKBRIDGERS CONTRIBUTES TO</a:t>
            </a:r>
          </a:p>
          <a:p>
            <a:pPr algn="l" marL="887903" indent="-443951" lvl="1">
              <a:lnSpc>
                <a:spcPts val="5757"/>
              </a:lnSpc>
              <a:buFont typeface="Arial"/>
              <a:buChar char="•"/>
            </a:pPr>
            <a:r>
              <a:rPr lang="en-US" sz="4112" spc="12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SDG 4 — QUALITY EDUCATION</a:t>
            </a:r>
          </a:p>
          <a:p>
            <a:pPr algn="l" marL="887903" indent="-443951" lvl="1">
              <a:lnSpc>
                <a:spcPts val="5757"/>
              </a:lnSpc>
              <a:buFont typeface="Arial"/>
              <a:buChar char="•"/>
            </a:pPr>
            <a:r>
              <a:rPr lang="en-US" sz="4112" spc="12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SDG 10 — REDUCED INEQUALITIES</a:t>
            </a:r>
          </a:p>
          <a:p>
            <a:pPr algn="l" marL="887903" indent="-443951" lvl="1">
              <a:lnSpc>
                <a:spcPts val="5757"/>
              </a:lnSpc>
              <a:buFont typeface="Arial"/>
              <a:buChar char="•"/>
            </a:pPr>
            <a:r>
              <a:rPr lang="en-US" sz="4112" spc="12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SDG 11 — SUSTAINABLE CITIES AND COMMUNITIES</a:t>
            </a:r>
          </a:p>
          <a:p>
            <a:pPr algn="l" marL="887903" indent="-443951" lvl="1">
              <a:lnSpc>
                <a:spcPts val="5757"/>
              </a:lnSpc>
              <a:buFont typeface="Arial"/>
              <a:buChar char="•"/>
            </a:pPr>
            <a:r>
              <a:rPr lang="en-US" sz="4112" spc="12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SDG 12 — RESPONSIBLE CONSUMPTION AND PRODUCTION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94954" y="7375215"/>
            <a:ext cx="2633542" cy="3204628"/>
          </a:xfrm>
          <a:custGeom>
            <a:avLst/>
            <a:gdLst/>
            <a:ahLst/>
            <a:cxnLst/>
            <a:rect r="r" b="b" t="t" l="l"/>
            <a:pathLst>
              <a:path h="3204628" w="2633542">
                <a:moveTo>
                  <a:pt x="0" y="0"/>
                </a:moveTo>
                <a:lnTo>
                  <a:pt x="2633542" y="0"/>
                </a:lnTo>
                <a:lnTo>
                  <a:pt x="2633542" y="3204628"/>
                </a:lnTo>
                <a:lnTo>
                  <a:pt x="0" y="3204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558115"/>
            <a:ext cx="18288000" cy="728885"/>
          </a:xfrm>
          <a:custGeom>
            <a:avLst/>
            <a:gdLst/>
            <a:ahLst/>
            <a:cxnLst/>
            <a:rect r="r" b="b" t="t" l="l"/>
            <a:pathLst>
              <a:path h="728885" w="18288000">
                <a:moveTo>
                  <a:pt x="0" y="0"/>
                </a:moveTo>
                <a:lnTo>
                  <a:pt x="18288000" y="0"/>
                </a:lnTo>
                <a:lnTo>
                  <a:pt x="18288000" y="728885"/>
                </a:lnTo>
                <a:lnTo>
                  <a:pt x="0" y="728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397" r="0" b="-3055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90104" y="0"/>
            <a:ext cx="2138393" cy="1531232"/>
          </a:xfrm>
          <a:custGeom>
            <a:avLst/>
            <a:gdLst/>
            <a:ahLst/>
            <a:cxnLst/>
            <a:rect r="r" b="b" t="t" l="l"/>
            <a:pathLst>
              <a:path h="1531232" w="2138393">
                <a:moveTo>
                  <a:pt x="0" y="0"/>
                </a:moveTo>
                <a:lnTo>
                  <a:pt x="2138392" y="0"/>
                </a:lnTo>
                <a:lnTo>
                  <a:pt x="2138392" y="1531232"/>
                </a:lnTo>
                <a:lnTo>
                  <a:pt x="0" y="1531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6" t="0" r="0" b="-296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619"/>
            <a:ext cx="3499329" cy="1021081"/>
          </a:xfrm>
          <a:custGeom>
            <a:avLst/>
            <a:gdLst/>
            <a:ahLst/>
            <a:cxnLst/>
            <a:rect r="r" b="b" t="t" l="l"/>
            <a:pathLst>
              <a:path h="1021081" w="3499329">
                <a:moveTo>
                  <a:pt x="0" y="0"/>
                </a:moveTo>
                <a:lnTo>
                  <a:pt x="3499329" y="0"/>
                </a:lnTo>
                <a:lnTo>
                  <a:pt x="3499329" y="1021081"/>
                </a:lnTo>
                <a:lnTo>
                  <a:pt x="0" y="1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6048" y="1965021"/>
            <a:ext cx="10786373" cy="6280679"/>
          </a:xfrm>
          <a:custGeom>
            <a:avLst/>
            <a:gdLst/>
            <a:ahLst/>
            <a:cxnLst/>
            <a:rect r="r" b="b" t="t" l="l"/>
            <a:pathLst>
              <a:path h="6280679" w="10786373">
                <a:moveTo>
                  <a:pt x="0" y="0"/>
                </a:moveTo>
                <a:lnTo>
                  <a:pt x="10786373" y="0"/>
                </a:lnTo>
                <a:lnTo>
                  <a:pt x="10786373" y="6280679"/>
                </a:lnTo>
                <a:lnTo>
                  <a:pt x="0" y="62806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51" t="0" r="-2121" b="-1214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0" y="7661406"/>
            <a:ext cx="2226257" cy="2261152"/>
          </a:xfrm>
          <a:custGeom>
            <a:avLst/>
            <a:gdLst/>
            <a:ahLst/>
            <a:cxnLst/>
            <a:rect r="r" b="b" t="t" l="l"/>
            <a:pathLst>
              <a:path h="2261152" w="2226257">
                <a:moveTo>
                  <a:pt x="2226257" y="0"/>
                </a:moveTo>
                <a:lnTo>
                  <a:pt x="0" y="0"/>
                </a:lnTo>
                <a:lnTo>
                  <a:pt x="0" y="2261152"/>
                </a:lnTo>
                <a:lnTo>
                  <a:pt x="2226257" y="2261152"/>
                </a:lnTo>
                <a:lnTo>
                  <a:pt x="222625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87307" y="-152400"/>
            <a:ext cx="10590600" cy="207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58"/>
              </a:lnSpc>
            </a:pPr>
            <a:r>
              <a:rPr lang="en-US" sz="8327" spc="24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SYSTEM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14795" y="2685154"/>
            <a:ext cx="6244505" cy="587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9"/>
              </a:lnSpc>
            </a:pPr>
          </a:p>
          <a:p>
            <a:pPr algn="l" marL="889122" indent="-444561" lvl="1">
              <a:lnSpc>
                <a:spcPts val="5765"/>
              </a:lnSpc>
              <a:buFont typeface="Arial"/>
              <a:buChar char="•"/>
            </a:pPr>
            <a:r>
              <a:rPr lang="en-US" sz="4118" spc="123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FRONTEND:</a:t>
            </a:r>
            <a:r>
              <a:rPr lang="en-US" sz="4118" spc="12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HTML,CSS,JAVASCRIPT,BOOTSTRAP</a:t>
            </a:r>
          </a:p>
          <a:p>
            <a:pPr algn="l">
              <a:lnSpc>
                <a:spcPts val="5765"/>
              </a:lnSpc>
            </a:pPr>
          </a:p>
          <a:p>
            <a:pPr algn="l" marL="889122" indent="-444561" lvl="1">
              <a:lnSpc>
                <a:spcPts val="5765"/>
              </a:lnSpc>
              <a:buFont typeface="Arial"/>
              <a:buChar char="•"/>
            </a:pPr>
            <a:r>
              <a:rPr lang="en-US" sz="4118" spc="123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BACKEND:</a:t>
            </a:r>
            <a:r>
              <a:rPr lang="en-US" sz="4118" spc="12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NODEJS</a:t>
            </a:r>
          </a:p>
          <a:p>
            <a:pPr algn="l">
              <a:lnSpc>
                <a:spcPts val="5765"/>
              </a:lnSpc>
            </a:pPr>
          </a:p>
          <a:p>
            <a:pPr algn="l" marL="889119" indent="-444559" lvl="1">
              <a:lnSpc>
                <a:spcPts val="5765"/>
              </a:lnSpc>
              <a:buFont typeface="Arial"/>
              <a:buChar char="•"/>
            </a:pPr>
            <a:r>
              <a:rPr lang="en-US" sz="4118" spc="123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DATABASE:</a:t>
            </a:r>
            <a:r>
              <a:rPr lang="en-US" sz="4118" spc="123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MONGODB COMMUNITY SERVER</a:t>
            </a:r>
            <a:r>
              <a:rPr lang="en-US" sz="4118" spc="123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02983" y="2134019"/>
            <a:ext cx="6087666" cy="89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5"/>
              </a:lnSpc>
              <a:spcBef>
                <a:spcPct val="0"/>
              </a:spcBef>
            </a:pPr>
            <a:r>
              <a:rPr lang="en-US" sz="5218" spc="156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TECHNOLOGIES USED: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94954" y="7421346"/>
            <a:ext cx="2633542" cy="3204628"/>
          </a:xfrm>
          <a:custGeom>
            <a:avLst/>
            <a:gdLst/>
            <a:ahLst/>
            <a:cxnLst/>
            <a:rect r="r" b="b" t="t" l="l"/>
            <a:pathLst>
              <a:path h="3204628" w="2633542">
                <a:moveTo>
                  <a:pt x="0" y="0"/>
                </a:moveTo>
                <a:lnTo>
                  <a:pt x="2633542" y="0"/>
                </a:lnTo>
                <a:lnTo>
                  <a:pt x="2633542" y="3204628"/>
                </a:lnTo>
                <a:lnTo>
                  <a:pt x="0" y="3204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558115"/>
            <a:ext cx="18288000" cy="728885"/>
          </a:xfrm>
          <a:custGeom>
            <a:avLst/>
            <a:gdLst/>
            <a:ahLst/>
            <a:cxnLst/>
            <a:rect r="r" b="b" t="t" l="l"/>
            <a:pathLst>
              <a:path h="728885" w="18288000">
                <a:moveTo>
                  <a:pt x="0" y="0"/>
                </a:moveTo>
                <a:lnTo>
                  <a:pt x="18288000" y="0"/>
                </a:lnTo>
                <a:lnTo>
                  <a:pt x="18288000" y="728885"/>
                </a:lnTo>
                <a:lnTo>
                  <a:pt x="0" y="728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397" r="0" b="-3055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90104" y="0"/>
            <a:ext cx="2138393" cy="1531232"/>
          </a:xfrm>
          <a:custGeom>
            <a:avLst/>
            <a:gdLst/>
            <a:ahLst/>
            <a:cxnLst/>
            <a:rect r="r" b="b" t="t" l="l"/>
            <a:pathLst>
              <a:path h="1531232" w="2138393">
                <a:moveTo>
                  <a:pt x="0" y="0"/>
                </a:moveTo>
                <a:lnTo>
                  <a:pt x="2138392" y="0"/>
                </a:lnTo>
                <a:lnTo>
                  <a:pt x="2138392" y="1531232"/>
                </a:lnTo>
                <a:lnTo>
                  <a:pt x="0" y="1531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6" t="0" r="0" b="-296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619"/>
            <a:ext cx="3499329" cy="1021081"/>
          </a:xfrm>
          <a:custGeom>
            <a:avLst/>
            <a:gdLst/>
            <a:ahLst/>
            <a:cxnLst/>
            <a:rect r="r" b="b" t="t" l="l"/>
            <a:pathLst>
              <a:path h="1021081" w="3499329">
                <a:moveTo>
                  <a:pt x="0" y="0"/>
                </a:moveTo>
                <a:lnTo>
                  <a:pt x="3499329" y="0"/>
                </a:lnTo>
                <a:lnTo>
                  <a:pt x="3499329" y="1021081"/>
                </a:lnTo>
                <a:lnTo>
                  <a:pt x="0" y="1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7661406"/>
            <a:ext cx="2226257" cy="2261152"/>
          </a:xfrm>
          <a:custGeom>
            <a:avLst/>
            <a:gdLst/>
            <a:ahLst/>
            <a:cxnLst/>
            <a:rect r="r" b="b" t="t" l="l"/>
            <a:pathLst>
              <a:path h="2261152" w="2226257">
                <a:moveTo>
                  <a:pt x="2226257" y="0"/>
                </a:moveTo>
                <a:lnTo>
                  <a:pt x="0" y="0"/>
                </a:lnTo>
                <a:lnTo>
                  <a:pt x="0" y="2261152"/>
                </a:lnTo>
                <a:lnTo>
                  <a:pt x="2226257" y="2261152"/>
                </a:lnTo>
                <a:lnTo>
                  <a:pt x="2226257" y="0"/>
                </a:lnTo>
                <a:close/>
              </a:path>
            </a:pathLst>
          </a:custGeom>
          <a:blipFill>
            <a:blip r:embed="rId7">
              <a:alphaModFix amt="4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80291" y="-152400"/>
            <a:ext cx="9204632" cy="186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18"/>
              </a:lnSpc>
            </a:pPr>
            <a:r>
              <a:rPr lang="en-US" sz="7727" spc="231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PAGES AND DATABASE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7105" y="1818708"/>
            <a:ext cx="5058519" cy="89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5"/>
              </a:lnSpc>
              <a:spcBef>
                <a:spcPct val="0"/>
              </a:spcBef>
            </a:pPr>
            <a:r>
              <a:rPr lang="en-US" sz="5218" spc="156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FRONTEND PAGES</a:t>
            </a:r>
            <a:r>
              <a:rPr lang="en-US" sz="5218" spc="156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1479" y="3118653"/>
            <a:ext cx="7625327" cy="598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PUBLIC PAGES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HOME.JS - LANDING PAGE WITH PROJECT OVERVIEW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LOGIN.JS - USER AUTHENTICATION PAGE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SIGNUP.JS - USER REGISTRATION PAGE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COMMUNITY.JS - COMMUNITY FEATURES AND INFORMATION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ROLE-BASED PAGES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STUDENT.JS - STUDENT DASHBOARD (APPROVED BOOKS, BORROWING HISTORY)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DONOR.JS - DONOR DASHBOARD (BOOK DONATIONS, DROP-OFF SCHEDULING)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ADMIN.JS - ADMIN DASHBOARD (REQUEST MANAGEMENT, SYSTEM OVERSIGHT)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ADMINLOGIN.JS - ADMIN-SPECIFIC LOGIN PAGE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FEATURE PAGES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LIBRARY.JS - BOOK BROWSING AND SEARCH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PARTNERLIBRARIES.JS - INTERACTIVE MAP WITH LIBRARY LOCATIONS AND APPOINTMENTS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64330" y="1818754"/>
            <a:ext cx="3330625" cy="89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7"/>
              </a:lnSpc>
              <a:spcBef>
                <a:spcPct val="0"/>
              </a:spcBef>
            </a:pPr>
            <a:r>
              <a:rPr lang="en-US" sz="5220" spc="156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DATABASES: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93509" y="704970"/>
            <a:ext cx="6578196" cy="159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18"/>
              </a:lnSpc>
            </a:pPr>
            <a:r>
              <a:rPr lang="en-US" sz="7727" spc="231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ARCHITECTURE</a:t>
            </a:r>
          </a:p>
          <a:p>
            <a:pPr algn="ctr">
              <a:lnSpc>
                <a:spcPts val="1081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787336" y="3025896"/>
            <a:ext cx="942126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USERS COLLECTION - COMPLETE USER PROFILE WITH LOCATION AND COORDINATES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BOOKS COLLECTION - BOOK DETAILS WITH STATUS TRACKING AND OWNERSHIP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REQUESTS COLLECTION - BORROWING WORKFLOW WITH APPROVAL TRACKING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PARTNERLIBRARIES COLLECTION - LIBRARY INFORMATION WITH GEOSPATIAL DATA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APPOINTMENTS COLLECTION - SCHEDULING SYSTEM WITH BOOK ASSOCIATIONS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5095875"/>
            <a:ext cx="8707934" cy="422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00"/>
              </a:lnSpc>
              <a:buAutoNum type="arabicPeriod" startAt="1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 DATABASE FEATURES HIGHLIGHTED: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GEOSPATIAL INDEXING - 2DSPHERE INDEX FOR LOCATION-BASED QUERIES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PASSWORD SECURITY - AUTOMATIC BCRYPT HASHING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DATA VALIDATION - MONGOOSE SCHEMA VALIDATION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REFERENTIAL INTEGRITY - OBJECTID REFERENCES BETWEEN COLLECTIONS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PERFORMANCE OPTIMIZATION - STRATEGIC INDEXES FOR EFFICIENT QUERIES</a:t>
            </a:r>
          </a:p>
          <a:p>
            <a:pPr algn="just" marL="431801" indent="-215900" lvl="1">
              <a:lnSpc>
                <a:spcPts val="2800"/>
              </a:lnSpc>
              <a:buAutoNum type="arabicPeriod" startAt="1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KEY DATABASE RELATIONSHIPS: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USERS ↔ BOOKS: DONOR OWNERSHIP AND CURRENT BORROWER TRACKING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USERS ↔ REQUESTS: STUDENT REQUESTS AND ADMIN APPROVALS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USERS ↔ APPOINTMENTS: USER APPOINTMENT SCHEDULING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BOOKS ↔ REQUESTS: BOOK BORROWING WORKFLOW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 strike="noStrike" u="none">
                <a:solidFill>
                  <a:srgbClr val="4A0F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PARTNERLIBRARIES ↔ APPOINTMENTS: LIBRARY APPOINTMENT MANAGEMENT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94954" y="7421346"/>
            <a:ext cx="2633542" cy="3204628"/>
          </a:xfrm>
          <a:custGeom>
            <a:avLst/>
            <a:gdLst/>
            <a:ahLst/>
            <a:cxnLst/>
            <a:rect r="r" b="b" t="t" l="l"/>
            <a:pathLst>
              <a:path h="3204628" w="2633542">
                <a:moveTo>
                  <a:pt x="0" y="0"/>
                </a:moveTo>
                <a:lnTo>
                  <a:pt x="2633542" y="0"/>
                </a:lnTo>
                <a:lnTo>
                  <a:pt x="2633542" y="3204628"/>
                </a:lnTo>
                <a:lnTo>
                  <a:pt x="0" y="3204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558115"/>
            <a:ext cx="18288000" cy="728885"/>
          </a:xfrm>
          <a:custGeom>
            <a:avLst/>
            <a:gdLst/>
            <a:ahLst/>
            <a:cxnLst/>
            <a:rect r="r" b="b" t="t" l="l"/>
            <a:pathLst>
              <a:path h="728885" w="18288000">
                <a:moveTo>
                  <a:pt x="0" y="0"/>
                </a:moveTo>
                <a:lnTo>
                  <a:pt x="18288000" y="0"/>
                </a:lnTo>
                <a:lnTo>
                  <a:pt x="18288000" y="728885"/>
                </a:lnTo>
                <a:lnTo>
                  <a:pt x="0" y="728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397" r="0" b="-3055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90104" y="0"/>
            <a:ext cx="2138393" cy="1531232"/>
          </a:xfrm>
          <a:custGeom>
            <a:avLst/>
            <a:gdLst/>
            <a:ahLst/>
            <a:cxnLst/>
            <a:rect r="r" b="b" t="t" l="l"/>
            <a:pathLst>
              <a:path h="1531232" w="2138393">
                <a:moveTo>
                  <a:pt x="0" y="0"/>
                </a:moveTo>
                <a:lnTo>
                  <a:pt x="2138392" y="0"/>
                </a:lnTo>
                <a:lnTo>
                  <a:pt x="2138392" y="1531232"/>
                </a:lnTo>
                <a:lnTo>
                  <a:pt x="0" y="1531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6" t="0" r="0" b="-296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619"/>
            <a:ext cx="3499329" cy="1021081"/>
          </a:xfrm>
          <a:custGeom>
            <a:avLst/>
            <a:gdLst/>
            <a:ahLst/>
            <a:cxnLst/>
            <a:rect r="r" b="b" t="t" l="l"/>
            <a:pathLst>
              <a:path h="1021081" w="3499329">
                <a:moveTo>
                  <a:pt x="0" y="0"/>
                </a:moveTo>
                <a:lnTo>
                  <a:pt x="3499329" y="0"/>
                </a:lnTo>
                <a:lnTo>
                  <a:pt x="3499329" y="1021081"/>
                </a:lnTo>
                <a:lnTo>
                  <a:pt x="0" y="1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7661406"/>
            <a:ext cx="2226257" cy="2261152"/>
          </a:xfrm>
          <a:custGeom>
            <a:avLst/>
            <a:gdLst/>
            <a:ahLst/>
            <a:cxnLst/>
            <a:rect r="r" b="b" t="t" l="l"/>
            <a:pathLst>
              <a:path h="2261152" w="2226257">
                <a:moveTo>
                  <a:pt x="2226257" y="0"/>
                </a:moveTo>
                <a:lnTo>
                  <a:pt x="0" y="0"/>
                </a:lnTo>
                <a:lnTo>
                  <a:pt x="0" y="2261152"/>
                </a:lnTo>
                <a:lnTo>
                  <a:pt x="2226257" y="2261152"/>
                </a:lnTo>
                <a:lnTo>
                  <a:pt x="2226257" y="0"/>
                </a:lnTo>
                <a:close/>
              </a:path>
            </a:pathLst>
          </a:custGeom>
          <a:blipFill>
            <a:blip r:embed="rId7">
              <a:alphaModFix amt="4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03246" y="-307285"/>
            <a:ext cx="10398736" cy="200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spc="225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BACKEND ARCHITECTURE</a:t>
            </a:r>
          </a:p>
          <a:p>
            <a:pPr algn="ctr">
              <a:lnSpc>
                <a:spcPts val="105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299285"/>
            <a:ext cx="696977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150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BACKEND API ENDPOINTS: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2493" y="2172383"/>
            <a:ext cx="8681507" cy="775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AUTHENTICATION ROUTES (/API/AUTH)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POST /API/AUTH/REGISTER - USER REGISTRATION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POST /API/AUTH/LOGIN - USER LOGIN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/API/AUTH/ME - GET CURRENT USER PROFILE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BOOKS ROUTES (/API/BOOKS)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/API/BOOKS - GET ALL BOOKS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POST /API/BOOKS - CREATE NEW BOOK (DONOR/ADMIN ONLY)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/API/BOOKS/:ID - GET SPECIFIC BOOK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PUT /API/BOOKS/:ID - UPDATE BOOK (DONOR/ADMIN ONLY)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DELETE /API/BOOKS/:ID - DELETE BOOK (ADMIN ONLY)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USERS ROUTES (/API/USERS)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/API/USERS - GET ALL USERS (ADMIN ONLY)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/API/USERS/:ID - GET SPECIFIC USER (ADMIN ONLY)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PUT /API/USERS/:ID - UPDATE USER (ADMIN ONLY)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DELETE /API/USERS/:ID - DELETE USER (ADMIN ONLY)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REQUESTS ROUTES (/API/REQUESTS)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/API/REQUESTS - GET ALL REQUESTS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POST /API/REQUESTS - CREATE BORROWING REQUEST (STUDENT ONLY)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/API/REQUESTS/USER/:USERID - GET USER'S REQUESTS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PUT /API/REQUESTS/:ID/STATUS - UPDATE REQUEST STATUS (ADMIN ONLY)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60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PUT /API/REQUESTS/:ID/RETURN - RETURN BOOK (STUDENT ONLY)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890280" y="1483607"/>
            <a:ext cx="9073620" cy="810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APPOINTMENTS ROUTES (/API/APPOINTMENTS)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POST /API/APPOINTMENTS - CREATE APPOINTMENT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/API/APPOINTMENTS/MY-APPOINTMENTS - GET USER'S APPOINTMENTS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PUT /API/APPOINTMENTS/:ID/CANCEL - CANCEL APPOINTMENT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/API/APPOINTMENTS/LIBRARY/:LIBRARYID - GET LIBRARY APPOINTMENTS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/API/APPOINTMENTS/LIBRARY/:LIBRARYID/AVAILABLE-SLOTS - GET AVAILABLE TIME SLOTS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PUT /API/APPOINTMENTS/:ID/STATUS - UPDATE APPOINTMENT STATUS (ADMIN ONLY)</a:t>
            </a:r>
          </a:p>
          <a:p>
            <a:pPr algn="l">
              <a:lnSpc>
                <a:spcPts val="2800"/>
              </a:lnSpc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PARTNER LIBRARIES ROUTES (/API/PARTNER-LIBRARIES)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/API/PARTNER-LIBRARIES - GET ALL LIBRARIES (PUBLIC)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/API/PARTNER-LIBRARIES/NEAREST - FIND NEAREST LIBRARIES (PUBLIC)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/API/PARTNER-LIBRARIES/:ID - GET SPECIFIC LIBRARY (PUBLIC)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/API/PARTNER-LIBRARIES/USER/NEARBY - GET LIBRARIES FOR USER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POST /API/PARTNER-LIBRARIES - CREATE LIBRARY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PUT /API/PARTNER-LIBRARIES/:ID - UPDATE LIBRARY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DELETE /API/PARTNER-LIBRARIES/:ID - DELETE LIBRARY (ADMIN ONLY)</a:t>
            </a:r>
          </a:p>
          <a:p>
            <a:pPr algn="l">
              <a:lnSpc>
                <a:spcPts val="2800"/>
              </a:lnSpc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ADMIN ROUTES (/API/ADMIN)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/API/ADMIN/STATS - GET SYSTEM STATISTICS (ADMIN ONLY)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/API/ADMIN/PENDING-REQUESTS - GET PENDING REQUESTS (ADMIN ONLY)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/API/ADMIN/BOOKS - GET ALL BOOKS (ADMIN ONLY)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GET /API/ADMIN/USERS - GET ALL USERS (ADMIN ONLY)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60" strike="noStrike" u="none">
                <a:solidFill>
                  <a:srgbClr val="00000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PUT /API/ADMIN/REQUESTS/:ID - UPDATE REQUEST (ADMIN ONLY)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90104" y="2007371"/>
            <a:ext cx="3527643" cy="2443695"/>
          </a:xfrm>
          <a:custGeom>
            <a:avLst/>
            <a:gdLst/>
            <a:ahLst/>
            <a:cxnLst/>
            <a:rect r="r" b="b" t="t" l="l"/>
            <a:pathLst>
              <a:path h="2443695" w="3527643">
                <a:moveTo>
                  <a:pt x="0" y="0"/>
                </a:moveTo>
                <a:lnTo>
                  <a:pt x="3527643" y="0"/>
                </a:lnTo>
                <a:lnTo>
                  <a:pt x="3527643" y="2443695"/>
                </a:lnTo>
                <a:lnTo>
                  <a:pt x="0" y="24436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64702" y="7432131"/>
            <a:ext cx="3332689" cy="2290466"/>
          </a:xfrm>
          <a:custGeom>
            <a:avLst/>
            <a:gdLst/>
            <a:ahLst/>
            <a:cxnLst/>
            <a:rect r="r" b="b" t="t" l="l"/>
            <a:pathLst>
              <a:path h="2290466" w="3332689">
                <a:moveTo>
                  <a:pt x="0" y="0"/>
                </a:moveTo>
                <a:lnTo>
                  <a:pt x="3332689" y="0"/>
                </a:lnTo>
                <a:lnTo>
                  <a:pt x="3332689" y="2290466"/>
                </a:lnTo>
                <a:lnTo>
                  <a:pt x="0" y="22904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52368" y="6895655"/>
            <a:ext cx="2980191" cy="3026903"/>
          </a:xfrm>
          <a:custGeom>
            <a:avLst/>
            <a:gdLst/>
            <a:ahLst/>
            <a:cxnLst/>
            <a:rect r="r" b="b" t="t" l="l"/>
            <a:pathLst>
              <a:path h="3026903" w="2980191">
                <a:moveTo>
                  <a:pt x="2980191" y="0"/>
                </a:moveTo>
                <a:lnTo>
                  <a:pt x="0" y="0"/>
                </a:lnTo>
                <a:lnTo>
                  <a:pt x="0" y="3026903"/>
                </a:lnTo>
                <a:lnTo>
                  <a:pt x="2980191" y="3026903"/>
                </a:lnTo>
                <a:lnTo>
                  <a:pt x="298019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25836" y="1231731"/>
            <a:ext cx="4241100" cy="2360374"/>
          </a:xfrm>
          <a:custGeom>
            <a:avLst/>
            <a:gdLst/>
            <a:ahLst/>
            <a:cxnLst/>
            <a:rect r="r" b="b" t="t" l="l"/>
            <a:pathLst>
              <a:path h="2360374" w="4241100">
                <a:moveTo>
                  <a:pt x="0" y="0"/>
                </a:moveTo>
                <a:lnTo>
                  <a:pt x="4241100" y="0"/>
                </a:lnTo>
                <a:lnTo>
                  <a:pt x="4241100" y="2360374"/>
                </a:lnTo>
                <a:lnTo>
                  <a:pt x="0" y="23603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558115"/>
            <a:ext cx="18288000" cy="728885"/>
          </a:xfrm>
          <a:custGeom>
            <a:avLst/>
            <a:gdLst/>
            <a:ahLst/>
            <a:cxnLst/>
            <a:rect r="r" b="b" t="t" l="l"/>
            <a:pathLst>
              <a:path h="728885" w="18288000">
                <a:moveTo>
                  <a:pt x="0" y="0"/>
                </a:moveTo>
                <a:lnTo>
                  <a:pt x="18288000" y="0"/>
                </a:lnTo>
                <a:lnTo>
                  <a:pt x="18288000" y="728885"/>
                </a:lnTo>
                <a:lnTo>
                  <a:pt x="0" y="728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9397" r="0" b="-3055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90104" y="0"/>
            <a:ext cx="2138393" cy="1531232"/>
          </a:xfrm>
          <a:custGeom>
            <a:avLst/>
            <a:gdLst/>
            <a:ahLst/>
            <a:cxnLst/>
            <a:rect r="r" b="b" t="t" l="l"/>
            <a:pathLst>
              <a:path h="1531232" w="2138393">
                <a:moveTo>
                  <a:pt x="0" y="0"/>
                </a:moveTo>
                <a:lnTo>
                  <a:pt x="2138392" y="0"/>
                </a:lnTo>
                <a:lnTo>
                  <a:pt x="2138392" y="1531232"/>
                </a:lnTo>
                <a:lnTo>
                  <a:pt x="0" y="15312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36" t="0" r="0" b="-296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7619"/>
            <a:ext cx="3499329" cy="1021081"/>
          </a:xfrm>
          <a:custGeom>
            <a:avLst/>
            <a:gdLst/>
            <a:ahLst/>
            <a:cxnLst/>
            <a:rect r="r" b="b" t="t" l="l"/>
            <a:pathLst>
              <a:path h="1021081" w="3499329">
                <a:moveTo>
                  <a:pt x="0" y="0"/>
                </a:moveTo>
                <a:lnTo>
                  <a:pt x="3499329" y="0"/>
                </a:lnTo>
                <a:lnTo>
                  <a:pt x="3499329" y="1021081"/>
                </a:lnTo>
                <a:lnTo>
                  <a:pt x="0" y="1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36133" y="-144781"/>
            <a:ext cx="5633101" cy="160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58"/>
              </a:lnSpc>
            </a:pPr>
            <a:r>
              <a:rPr lang="en-US" sz="8327" spc="24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FLOWCHART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979459" y="1703911"/>
            <a:ext cx="11159009" cy="7324966"/>
          </a:xfrm>
          <a:custGeom>
            <a:avLst/>
            <a:gdLst/>
            <a:ahLst/>
            <a:cxnLst/>
            <a:rect r="r" b="b" t="t" l="l"/>
            <a:pathLst>
              <a:path h="7324966" w="11159009">
                <a:moveTo>
                  <a:pt x="0" y="0"/>
                </a:moveTo>
                <a:lnTo>
                  <a:pt x="11159009" y="0"/>
                </a:lnTo>
                <a:lnTo>
                  <a:pt x="11159009" y="7324966"/>
                </a:lnTo>
                <a:lnTo>
                  <a:pt x="0" y="73249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8681" t="0" r="-267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3489" y="9087614"/>
            <a:ext cx="2645617" cy="1669599"/>
          </a:xfrm>
          <a:custGeom>
            <a:avLst/>
            <a:gdLst/>
            <a:ahLst/>
            <a:cxnLst/>
            <a:rect r="r" b="b" t="t" l="l"/>
            <a:pathLst>
              <a:path h="1669599" w="2645617">
                <a:moveTo>
                  <a:pt x="0" y="0"/>
                </a:moveTo>
                <a:lnTo>
                  <a:pt x="2645617" y="0"/>
                </a:lnTo>
                <a:lnTo>
                  <a:pt x="2645617" y="1669598"/>
                </a:lnTo>
                <a:lnTo>
                  <a:pt x="0" y="1669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92842" y="8424911"/>
            <a:ext cx="2317953" cy="1862089"/>
          </a:xfrm>
          <a:custGeom>
            <a:avLst/>
            <a:gdLst/>
            <a:ahLst/>
            <a:cxnLst/>
            <a:rect r="r" b="b" t="t" l="l"/>
            <a:pathLst>
              <a:path h="1862089" w="2317953">
                <a:moveTo>
                  <a:pt x="0" y="0"/>
                </a:moveTo>
                <a:lnTo>
                  <a:pt x="2317953" y="0"/>
                </a:lnTo>
                <a:lnTo>
                  <a:pt x="2317953" y="1862089"/>
                </a:lnTo>
                <a:lnTo>
                  <a:pt x="0" y="1862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557971"/>
            <a:ext cx="18288000" cy="728885"/>
          </a:xfrm>
          <a:custGeom>
            <a:avLst/>
            <a:gdLst/>
            <a:ahLst/>
            <a:cxnLst/>
            <a:rect r="r" b="b" t="t" l="l"/>
            <a:pathLst>
              <a:path h="728885" w="18288000">
                <a:moveTo>
                  <a:pt x="0" y="0"/>
                </a:moveTo>
                <a:lnTo>
                  <a:pt x="18288000" y="0"/>
                </a:lnTo>
                <a:lnTo>
                  <a:pt x="18288000" y="728884"/>
                </a:lnTo>
                <a:lnTo>
                  <a:pt x="0" y="7288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9397" r="0" b="-3055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90104" y="0"/>
            <a:ext cx="2138393" cy="1531232"/>
          </a:xfrm>
          <a:custGeom>
            <a:avLst/>
            <a:gdLst/>
            <a:ahLst/>
            <a:cxnLst/>
            <a:rect r="r" b="b" t="t" l="l"/>
            <a:pathLst>
              <a:path h="1531232" w="2138393">
                <a:moveTo>
                  <a:pt x="0" y="0"/>
                </a:moveTo>
                <a:lnTo>
                  <a:pt x="2138392" y="0"/>
                </a:lnTo>
                <a:lnTo>
                  <a:pt x="2138392" y="1531232"/>
                </a:lnTo>
                <a:lnTo>
                  <a:pt x="0" y="15312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36" t="0" r="0" b="-296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619"/>
            <a:ext cx="3499329" cy="1021081"/>
          </a:xfrm>
          <a:custGeom>
            <a:avLst/>
            <a:gdLst/>
            <a:ahLst/>
            <a:cxnLst/>
            <a:rect r="r" b="b" t="t" l="l"/>
            <a:pathLst>
              <a:path h="1021081" w="3499329">
                <a:moveTo>
                  <a:pt x="0" y="0"/>
                </a:moveTo>
                <a:lnTo>
                  <a:pt x="3499329" y="0"/>
                </a:lnTo>
                <a:lnTo>
                  <a:pt x="3499329" y="1021081"/>
                </a:lnTo>
                <a:lnTo>
                  <a:pt x="0" y="1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936799" y="5668157"/>
            <a:ext cx="7375193" cy="4616625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6756974" y="-282529"/>
            <a:ext cx="4507075" cy="1528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58"/>
              </a:lnSpc>
            </a:pPr>
            <a:r>
              <a:rPr lang="en-US" sz="8327" spc="24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32605" y="4789169"/>
            <a:ext cx="7624039" cy="446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spc="113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BOOK SEARCH &amp; TRACKING: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8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Search by title, author, or category.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8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Track availability and request status.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 spc="114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SECURE LOGIN/SIGNUP: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8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Encrypted authentication with hashed passwords.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 spc="114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DONATION MANAGEMENT: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8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Donors can log book donations or financial contributions.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359594" y="599575"/>
            <a:ext cx="6908998" cy="4841545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41156" y="989142"/>
            <a:ext cx="9100675" cy="584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7"/>
              </a:lnSpc>
            </a:pPr>
            <a:r>
              <a:rPr lang="en-US" sz="3799" spc="94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ROLE-BASED DASHBOARDS:</a:t>
            </a:r>
          </a:p>
          <a:p>
            <a:pPr algn="l">
              <a:lnSpc>
                <a:spcPts val="5348"/>
              </a:lnSpc>
            </a:pPr>
            <a:r>
              <a:rPr lang="en-US" sz="2800" spc="70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Student Dashboard (Search, Request, Wishlist).</a:t>
            </a:r>
          </a:p>
          <a:p>
            <a:pPr algn="l">
              <a:lnSpc>
                <a:spcPts val="5348"/>
              </a:lnSpc>
            </a:pPr>
            <a:r>
              <a:rPr lang="en-US" sz="2800" spc="70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Admin Panel </a:t>
            </a:r>
            <a:r>
              <a:rPr lang="en-US" sz="2800" spc="70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(Manage Listings, Approve Requests).</a:t>
            </a:r>
          </a:p>
          <a:p>
            <a:pPr algn="l">
              <a:lnSpc>
                <a:spcPts val="5348"/>
              </a:lnSpc>
            </a:pPr>
            <a:r>
              <a:rPr lang="en-US" sz="2800" spc="70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Donor Dashboard (Donate, Track Contributions).</a:t>
            </a:r>
          </a:p>
          <a:p>
            <a:pPr algn="l">
              <a:lnSpc>
                <a:spcPts val="7257"/>
              </a:lnSpc>
            </a:pPr>
            <a:r>
              <a:rPr lang="en-US" sz="379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COMMUNITY PAGE:</a:t>
            </a:r>
          </a:p>
          <a:p>
            <a:pPr algn="l">
              <a:lnSpc>
                <a:spcPts val="5348"/>
              </a:lnSpc>
            </a:pPr>
            <a:r>
              <a:rPr lang="en-US" sz="2800" spc="70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Forums for discussion, book clubs, and recommendations.</a:t>
            </a:r>
          </a:p>
          <a:p>
            <a:pPr algn="l">
              <a:lnSpc>
                <a:spcPts val="5348"/>
              </a:lnSpc>
            </a:pPr>
            <a:r>
              <a:rPr lang="en-US" sz="2800" spc="70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“Contribute” button linking to donations/QR for funding drives.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1156" y="6759006"/>
            <a:ext cx="5680394" cy="281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spc="113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PICK</a:t>
            </a:r>
            <a:r>
              <a:rPr lang="en-US" sz="3799" spc="113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UP/DROPOFF LOCATION: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83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Gives nearest pickup and drop location based on your location.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49960" y="-180975"/>
            <a:ext cx="3620792" cy="162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4"/>
              </a:lnSpc>
            </a:pPr>
            <a:r>
              <a:rPr lang="en-US" sz="9081" spc="272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RESULT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526167" y="6152049"/>
            <a:ext cx="4916894" cy="3406066"/>
          </a:xfrm>
          <a:custGeom>
            <a:avLst/>
            <a:gdLst/>
            <a:ahLst/>
            <a:cxnLst/>
            <a:rect r="r" b="b" t="t" l="l"/>
            <a:pathLst>
              <a:path h="3406066" w="4916894">
                <a:moveTo>
                  <a:pt x="0" y="0"/>
                </a:moveTo>
                <a:lnTo>
                  <a:pt x="4916894" y="0"/>
                </a:lnTo>
                <a:lnTo>
                  <a:pt x="4916894" y="3406066"/>
                </a:lnTo>
                <a:lnTo>
                  <a:pt x="0" y="3406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68563" y="6360847"/>
            <a:ext cx="4960405" cy="3409151"/>
          </a:xfrm>
          <a:custGeom>
            <a:avLst/>
            <a:gdLst/>
            <a:ahLst/>
            <a:cxnLst/>
            <a:rect r="r" b="b" t="t" l="l"/>
            <a:pathLst>
              <a:path h="3409151" w="4960405">
                <a:moveTo>
                  <a:pt x="0" y="0"/>
                </a:moveTo>
                <a:lnTo>
                  <a:pt x="4960405" y="0"/>
                </a:lnTo>
                <a:lnTo>
                  <a:pt x="4960405" y="3409152"/>
                </a:lnTo>
                <a:lnTo>
                  <a:pt x="0" y="3409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9558115"/>
            <a:ext cx="18288000" cy="728885"/>
          </a:xfrm>
          <a:custGeom>
            <a:avLst/>
            <a:gdLst/>
            <a:ahLst/>
            <a:cxnLst/>
            <a:rect r="r" b="b" t="t" l="l"/>
            <a:pathLst>
              <a:path h="728885" w="18288000">
                <a:moveTo>
                  <a:pt x="0" y="0"/>
                </a:moveTo>
                <a:lnTo>
                  <a:pt x="18288000" y="0"/>
                </a:lnTo>
                <a:lnTo>
                  <a:pt x="18288000" y="728885"/>
                </a:lnTo>
                <a:lnTo>
                  <a:pt x="0" y="7288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9397" r="0" b="-3055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0104" y="0"/>
            <a:ext cx="2138393" cy="1531232"/>
          </a:xfrm>
          <a:custGeom>
            <a:avLst/>
            <a:gdLst/>
            <a:ahLst/>
            <a:cxnLst/>
            <a:rect r="r" b="b" t="t" l="l"/>
            <a:pathLst>
              <a:path h="1531232" w="2138393">
                <a:moveTo>
                  <a:pt x="0" y="0"/>
                </a:moveTo>
                <a:lnTo>
                  <a:pt x="2138392" y="0"/>
                </a:lnTo>
                <a:lnTo>
                  <a:pt x="2138392" y="1531232"/>
                </a:lnTo>
                <a:lnTo>
                  <a:pt x="0" y="15312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36" t="0" r="0" b="-296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7619"/>
            <a:ext cx="3499329" cy="1021081"/>
          </a:xfrm>
          <a:custGeom>
            <a:avLst/>
            <a:gdLst/>
            <a:ahLst/>
            <a:cxnLst/>
            <a:rect r="r" b="b" t="t" l="l"/>
            <a:pathLst>
              <a:path h="1021081" w="3499329">
                <a:moveTo>
                  <a:pt x="0" y="0"/>
                </a:moveTo>
                <a:lnTo>
                  <a:pt x="3499329" y="0"/>
                </a:lnTo>
                <a:lnTo>
                  <a:pt x="3499329" y="1021081"/>
                </a:lnTo>
                <a:lnTo>
                  <a:pt x="0" y="1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21230" y="1913930"/>
            <a:ext cx="12968874" cy="32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7465" indent="-333733" lvl="1">
              <a:lnSpc>
                <a:spcPts val="4328"/>
              </a:lnSpc>
              <a:spcBef>
                <a:spcPct val="0"/>
              </a:spcBef>
              <a:buFont typeface="Arial"/>
              <a:buChar char="•"/>
            </a:pPr>
            <a:r>
              <a:rPr lang="en-US" sz="3091" spc="92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THE COMPLETE VERSION OF BOOKBRIDGERS HAS BEEN SUCCESSFULLY DEVELOPED USING HTML, BOOTSTRAP, AND CSS TO DESIGN A RESPONSIVE AND USER-FRIENDLY FRONTEND.</a:t>
            </a:r>
          </a:p>
          <a:p>
            <a:pPr algn="l" marL="667465" indent="-333733" lvl="1">
              <a:lnSpc>
                <a:spcPts val="4328"/>
              </a:lnSpc>
              <a:spcBef>
                <a:spcPct val="0"/>
              </a:spcBef>
              <a:buFont typeface="Arial"/>
              <a:buChar char="•"/>
            </a:pPr>
            <a:r>
              <a:rPr lang="en-US" sz="3091" spc="92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COMPLETELY FUNCTIONAL BACKEND WITH 7 ROUTE FILES WITH 25+ API ENDPOINTS.</a:t>
            </a:r>
          </a:p>
          <a:p>
            <a:pPr algn="l">
              <a:lnSpc>
                <a:spcPts val="43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22486" y="3386862"/>
            <a:ext cx="3246350" cy="8001104"/>
          </a:xfrm>
          <a:custGeom>
            <a:avLst/>
            <a:gdLst/>
            <a:ahLst/>
            <a:cxnLst/>
            <a:rect r="r" b="b" t="t" l="l"/>
            <a:pathLst>
              <a:path h="8001104" w="3246350">
                <a:moveTo>
                  <a:pt x="0" y="0"/>
                </a:moveTo>
                <a:lnTo>
                  <a:pt x="3246350" y="0"/>
                </a:lnTo>
                <a:lnTo>
                  <a:pt x="3246350" y="8001104"/>
                </a:lnTo>
                <a:lnTo>
                  <a:pt x="0" y="8001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7379" y="1653877"/>
            <a:ext cx="14676236" cy="857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3599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BookB</a:t>
            </a:r>
            <a:r>
              <a:rPr lang="en-US" sz="3599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ridgers has successfully evolved from concept to a fully functional library management system. The project has achieved complete implementation with:</a:t>
            </a:r>
          </a:p>
          <a:p>
            <a:pPr algn="ctr" marL="777238" indent="-388619" lvl="1">
              <a:lnSpc>
                <a:spcPts val="6875"/>
              </a:lnSpc>
              <a:buFont typeface="Arial"/>
              <a:buChar char="•"/>
            </a:pPr>
            <a:r>
              <a:rPr lang="en-US" sz="3599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 Fully Integrated Full-Stack Architecture - Seamless connection between React frontend and Node.js backend</a:t>
            </a:r>
          </a:p>
          <a:p>
            <a:pPr algn="ctr" marL="777238" indent="-388619" lvl="1">
              <a:lnSpc>
                <a:spcPts val="6875"/>
              </a:lnSpc>
              <a:buFont typeface="Arial"/>
              <a:buChar char="•"/>
            </a:pPr>
            <a:r>
              <a:rPr lang="en-US" sz="3599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Comprehensive Role-Based Authentication - Complete JWT-based security system for Students, Donors, and Admins</a:t>
            </a:r>
          </a:p>
          <a:p>
            <a:pPr algn="ctr" marL="777238" indent="-388619" lvl="1">
              <a:lnSpc>
                <a:spcPts val="6875"/>
              </a:lnSpc>
              <a:buFont typeface="Arial"/>
              <a:buChar char="•"/>
            </a:pPr>
            <a:r>
              <a:rPr lang="en-US" sz="3599">
                <a:solidFill>
                  <a:srgbClr val="4A322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 Database Connectivity - MongoDB integration with 5 optimized collections and geospatial indexingAdvanced Feature Implementation - Interactive maps, appointment scheduling, and real-time request management</a:t>
            </a:r>
          </a:p>
          <a:p>
            <a:pPr algn="ctr">
              <a:lnSpc>
                <a:spcPts val="687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227467" y="-78806"/>
            <a:ext cx="5833067" cy="161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58"/>
              </a:lnSpc>
            </a:pPr>
            <a:r>
              <a:rPr lang="en-US" sz="8327" spc="24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CONCLUSION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816346" y="2068946"/>
            <a:ext cx="5291288" cy="2944854"/>
          </a:xfrm>
          <a:custGeom>
            <a:avLst/>
            <a:gdLst/>
            <a:ahLst/>
            <a:cxnLst/>
            <a:rect r="r" b="b" t="t" l="l"/>
            <a:pathLst>
              <a:path h="2944854" w="5291288">
                <a:moveTo>
                  <a:pt x="0" y="0"/>
                </a:moveTo>
                <a:lnTo>
                  <a:pt x="5291288" y="0"/>
                </a:lnTo>
                <a:lnTo>
                  <a:pt x="5291288" y="2944854"/>
                </a:lnTo>
                <a:lnTo>
                  <a:pt x="0" y="294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950024" y="6054047"/>
            <a:ext cx="5077404" cy="3204253"/>
          </a:xfrm>
          <a:custGeom>
            <a:avLst/>
            <a:gdLst/>
            <a:ahLst/>
            <a:cxnLst/>
            <a:rect r="r" b="b" t="t" l="l"/>
            <a:pathLst>
              <a:path h="3204253" w="5077404">
                <a:moveTo>
                  <a:pt x="5077403" y="0"/>
                </a:moveTo>
                <a:lnTo>
                  <a:pt x="0" y="0"/>
                </a:lnTo>
                <a:lnTo>
                  <a:pt x="0" y="3204253"/>
                </a:lnTo>
                <a:lnTo>
                  <a:pt x="5077403" y="3204253"/>
                </a:lnTo>
                <a:lnTo>
                  <a:pt x="50774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9558115"/>
            <a:ext cx="18288000" cy="728885"/>
          </a:xfrm>
          <a:custGeom>
            <a:avLst/>
            <a:gdLst/>
            <a:ahLst/>
            <a:cxnLst/>
            <a:rect r="r" b="b" t="t" l="l"/>
            <a:pathLst>
              <a:path h="728885" w="18288000">
                <a:moveTo>
                  <a:pt x="0" y="0"/>
                </a:moveTo>
                <a:lnTo>
                  <a:pt x="18288000" y="0"/>
                </a:lnTo>
                <a:lnTo>
                  <a:pt x="18288000" y="728885"/>
                </a:lnTo>
                <a:lnTo>
                  <a:pt x="0" y="728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9397" r="0" b="-3055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90104" y="0"/>
            <a:ext cx="2138393" cy="1531232"/>
          </a:xfrm>
          <a:custGeom>
            <a:avLst/>
            <a:gdLst/>
            <a:ahLst/>
            <a:cxnLst/>
            <a:rect r="r" b="b" t="t" l="l"/>
            <a:pathLst>
              <a:path h="1531232" w="2138393">
                <a:moveTo>
                  <a:pt x="0" y="0"/>
                </a:moveTo>
                <a:lnTo>
                  <a:pt x="2138392" y="0"/>
                </a:lnTo>
                <a:lnTo>
                  <a:pt x="2138392" y="1531232"/>
                </a:lnTo>
                <a:lnTo>
                  <a:pt x="0" y="15312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36" t="0" r="0" b="-296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7619"/>
            <a:ext cx="3499329" cy="1021081"/>
          </a:xfrm>
          <a:custGeom>
            <a:avLst/>
            <a:gdLst/>
            <a:ahLst/>
            <a:cxnLst/>
            <a:rect r="r" b="b" t="t" l="l"/>
            <a:pathLst>
              <a:path h="1021081" w="3499329">
                <a:moveTo>
                  <a:pt x="0" y="0"/>
                </a:moveTo>
                <a:lnTo>
                  <a:pt x="3499329" y="0"/>
                </a:lnTo>
                <a:lnTo>
                  <a:pt x="3499329" y="1021081"/>
                </a:lnTo>
                <a:lnTo>
                  <a:pt x="0" y="1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20282" y="7210553"/>
            <a:ext cx="2114305" cy="2572794"/>
          </a:xfrm>
          <a:custGeom>
            <a:avLst/>
            <a:gdLst/>
            <a:ahLst/>
            <a:cxnLst/>
            <a:rect r="r" b="b" t="t" l="l"/>
            <a:pathLst>
              <a:path h="2572794" w="2114305">
                <a:moveTo>
                  <a:pt x="0" y="0"/>
                </a:moveTo>
                <a:lnTo>
                  <a:pt x="2114306" y="0"/>
                </a:lnTo>
                <a:lnTo>
                  <a:pt x="2114306" y="2572794"/>
                </a:lnTo>
                <a:lnTo>
                  <a:pt x="0" y="2572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53275" y="7210553"/>
            <a:ext cx="1867007" cy="2572794"/>
          </a:xfrm>
          <a:custGeom>
            <a:avLst/>
            <a:gdLst/>
            <a:ahLst/>
            <a:cxnLst/>
            <a:rect r="r" b="b" t="t" l="l"/>
            <a:pathLst>
              <a:path h="2572794" w="1867007">
                <a:moveTo>
                  <a:pt x="0" y="0"/>
                </a:moveTo>
                <a:lnTo>
                  <a:pt x="1867007" y="0"/>
                </a:lnTo>
                <a:lnTo>
                  <a:pt x="1867007" y="2572794"/>
                </a:lnTo>
                <a:lnTo>
                  <a:pt x="0" y="2572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34588" y="7210553"/>
            <a:ext cx="2533091" cy="2572794"/>
          </a:xfrm>
          <a:custGeom>
            <a:avLst/>
            <a:gdLst/>
            <a:ahLst/>
            <a:cxnLst/>
            <a:rect r="r" b="b" t="t" l="l"/>
            <a:pathLst>
              <a:path h="2572794" w="2533091">
                <a:moveTo>
                  <a:pt x="0" y="0"/>
                </a:moveTo>
                <a:lnTo>
                  <a:pt x="2533090" y="0"/>
                </a:lnTo>
                <a:lnTo>
                  <a:pt x="2533090" y="2572794"/>
                </a:lnTo>
                <a:lnTo>
                  <a:pt x="0" y="25727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63188" y="7210553"/>
            <a:ext cx="1043880" cy="2572794"/>
          </a:xfrm>
          <a:custGeom>
            <a:avLst/>
            <a:gdLst/>
            <a:ahLst/>
            <a:cxnLst/>
            <a:rect r="r" b="b" t="t" l="l"/>
            <a:pathLst>
              <a:path h="2572794" w="1043880">
                <a:moveTo>
                  <a:pt x="0" y="0"/>
                </a:moveTo>
                <a:lnTo>
                  <a:pt x="1043880" y="0"/>
                </a:lnTo>
                <a:lnTo>
                  <a:pt x="1043880" y="2572794"/>
                </a:lnTo>
                <a:lnTo>
                  <a:pt x="0" y="25727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03692" y="7210553"/>
            <a:ext cx="1130550" cy="2572794"/>
          </a:xfrm>
          <a:custGeom>
            <a:avLst/>
            <a:gdLst/>
            <a:ahLst/>
            <a:cxnLst/>
            <a:rect r="r" b="b" t="t" l="l"/>
            <a:pathLst>
              <a:path h="2572794" w="1130550">
                <a:moveTo>
                  <a:pt x="0" y="0"/>
                </a:moveTo>
                <a:lnTo>
                  <a:pt x="1130550" y="0"/>
                </a:lnTo>
                <a:lnTo>
                  <a:pt x="1130550" y="2572794"/>
                </a:lnTo>
                <a:lnTo>
                  <a:pt x="0" y="25727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87348" y="8097437"/>
            <a:ext cx="2975660" cy="1685910"/>
          </a:xfrm>
          <a:custGeom>
            <a:avLst/>
            <a:gdLst/>
            <a:ahLst/>
            <a:cxnLst/>
            <a:rect r="r" b="b" t="t" l="l"/>
            <a:pathLst>
              <a:path h="1685910" w="2975660">
                <a:moveTo>
                  <a:pt x="0" y="0"/>
                </a:moveTo>
                <a:lnTo>
                  <a:pt x="2975661" y="0"/>
                </a:lnTo>
                <a:lnTo>
                  <a:pt x="2975661" y="1685910"/>
                </a:lnTo>
                <a:lnTo>
                  <a:pt x="0" y="1685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7619"/>
            <a:ext cx="3499329" cy="1021081"/>
          </a:xfrm>
          <a:custGeom>
            <a:avLst/>
            <a:gdLst/>
            <a:ahLst/>
            <a:cxnLst/>
            <a:rect r="r" b="b" t="t" l="l"/>
            <a:pathLst>
              <a:path h="1021081" w="3499329">
                <a:moveTo>
                  <a:pt x="0" y="0"/>
                </a:moveTo>
                <a:lnTo>
                  <a:pt x="3499329" y="0"/>
                </a:lnTo>
                <a:lnTo>
                  <a:pt x="3499329" y="1021081"/>
                </a:lnTo>
                <a:lnTo>
                  <a:pt x="0" y="1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90104" y="0"/>
            <a:ext cx="2138393" cy="1531232"/>
          </a:xfrm>
          <a:custGeom>
            <a:avLst/>
            <a:gdLst/>
            <a:ahLst/>
            <a:cxnLst/>
            <a:rect r="r" b="b" t="t" l="l"/>
            <a:pathLst>
              <a:path h="1531232" w="2138393">
                <a:moveTo>
                  <a:pt x="0" y="0"/>
                </a:moveTo>
                <a:lnTo>
                  <a:pt x="2138392" y="0"/>
                </a:lnTo>
                <a:lnTo>
                  <a:pt x="2138392" y="1531232"/>
                </a:lnTo>
                <a:lnTo>
                  <a:pt x="0" y="153123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536" t="0" r="0" b="-296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9558115"/>
            <a:ext cx="18288000" cy="728885"/>
          </a:xfrm>
          <a:custGeom>
            <a:avLst/>
            <a:gdLst/>
            <a:ahLst/>
            <a:cxnLst/>
            <a:rect r="r" b="b" t="t" l="l"/>
            <a:pathLst>
              <a:path h="728885" w="18288000">
                <a:moveTo>
                  <a:pt x="0" y="0"/>
                </a:moveTo>
                <a:lnTo>
                  <a:pt x="18288000" y="0"/>
                </a:lnTo>
                <a:lnTo>
                  <a:pt x="18288000" y="728885"/>
                </a:lnTo>
                <a:lnTo>
                  <a:pt x="0" y="72888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29397" r="0" b="-3055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2392932"/>
            <a:ext cx="17417737" cy="425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77110" indent="-438555" lvl="1">
              <a:lnSpc>
                <a:spcPts val="5687"/>
              </a:lnSpc>
              <a:buFont typeface="Arial"/>
              <a:buChar char="•"/>
            </a:pPr>
            <a:r>
              <a:rPr lang="en-US" sz="4062" spc="121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HTTPS://WWW.IRJET.NET/ARCHIVES/V8/I2/IRJET-V8I2337.PDF</a:t>
            </a:r>
          </a:p>
          <a:p>
            <a:pPr algn="ctr" marL="877110" indent="-438555" lvl="1">
              <a:lnSpc>
                <a:spcPts val="5687"/>
              </a:lnSpc>
              <a:buFont typeface="Arial"/>
              <a:buChar char="•"/>
            </a:pPr>
            <a:r>
              <a:rPr lang="en-US" sz="4062" spc="121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HTTPS://WWW.SCRIBD.COM/DOCUMENT/633412415/BOOK-DONATION-SYSTEM</a:t>
            </a:r>
          </a:p>
          <a:p>
            <a:pPr algn="ctr" marL="877110" indent="-438555" lvl="1">
              <a:lnSpc>
                <a:spcPts val="5687"/>
              </a:lnSpc>
              <a:buFont typeface="Arial"/>
              <a:buChar char="•"/>
            </a:pPr>
            <a:r>
              <a:rPr lang="en-US" sz="4062" spc="121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HTTPS://PROJECTRABBIT.IN/SINGLE-PROJECT-DETAILS/ONLINE-BOOK-DONATION-PLATFORM</a:t>
            </a:r>
          </a:p>
          <a:p>
            <a:pPr algn="ctr">
              <a:lnSpc>
                <a:spcPts val="5687"/>
              </a:lnSpc>
              <a:spcBef>
                <a:spcPct val="0"/>
              </a:spcBef>
            </a:pPr>
            <a:r>
              <a:rPr lang="en-US" sz="4062" spc="121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86991" y="365760"/>
            <a:ext cx="5714017" cy="160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58"/>
              </a:lnSpc>
            </a:pPr>
            <a:r>
              <a:rPr lang="en-US" sz="8327" spc="24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REFERENCES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9905" y="2604581"/>
            <a:ext cx="6088190" cy="303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9"/>
              </a:lnSpc>
            </a:pPr>
            <a:r>
              <a:rPr lang="en-US" sz="15999" spc="47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THANK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10885" y="4524754"/>
            <a:ext cx="3866230" cy="284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9"/>
              </a:lnSpc>
            </a:pPr>
            <a:r>
              <a:rPr lang="en-US" sz="15999" spc="47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941471" y="4602873"/>
            <a:ext cx="4583584" cy="4655427"/>
          </a:xfrm>
          <a:custGeom>
            <a:avLst/>
            <a:gdLst/>
            <a:ahLst/>
            <a:cxnLst/>
            <a:rect r="r" b="b" t="t" l="l"/>
            <a:pathLst>
              <a:path h="4655427" w="4583584">
                <a:moveTo>
                  <a:pt x="0" y="0"/>
                </a:moveTo>
                <a:lnTo>
                  <a:pt x="4583584" y="0"/>
                </a:lnTo>
                <a:lnTo>
                  <a:pt x="4583584" y="4655427"/>
                </a:lnTo>
                <a:lnTo>
                  <a:pt x="0" y="4655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28530" y="5649713"/>
            <a:ext cx="6276127" cy="3555844"/>
          </a:xfrm>
          <a:custGeom>
            <a:avLst/>
            <a:gdLst/>
            <a:ahLst/>
            <a:cxnLst/>
            <a:rect r="r" b="b" t="t" l="l"/>
            <a:pathLst>
              <a:path h="3555844" w="6276127">
                <a:moveTo>
                  <a:pt x="0" y="0"/>
                </a:moveTo>
                <a:lnTo>
                  <a:pt x="6276127" y="0"/>
                </a:lnTo>
                <a:lnTo>
                  <a:pt x="6276127" y="3555844"/>
                </a:lnTo>
                <a:lnTo>
                  <a:pt x="0" y="3555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346960" y="1535410"/>
            <a:ext cx="5291288" cy="2944854"/>
          </a:xfrm>
          <a:custGeom>
            <a:avLst/>
            <a:gdLst/>
            <a:ahLst/>
            <a:cxnLst/>
            <a:rect r="r" b="b" t="t" l="l"/>
            <a:pathLst>
              <a:path h="2944854" w="5291288">
                <a:moveTo>
                  <a:pt x="0" y="0"/>
                </a:moveTo>
                <a:lnTo>
                  <a:pt x="5291288" y="0"/>
                </a:lnTo>
                <a:lnTo>
                  <a:pt x="5291288" y="2944854"/>
                </a:lnTo>
                <a:lnTo>
                  <a:pt x="0" y="29448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43885" y="1194317"/>
            <a:ext cx="3991645" cy="2765122"/>
          </a:xfrm>
          <a:custGeom>
            <a:avLst/>
            <a:gdLst/>
            <a:ahLst/>
            <a:cxnLst/>
            <a:rect r="r" b="b" t="t" l="l"/>
            <a:pathLst>
              <a:path h="2765122" w="3991645">
                <a:moveTo>
                  <a:pt x="0" y="0"/>
                </a:moveTo>
                <a:lnTo>
                  <a:pt x="3991646" y="0"/>
                </a:lnTo>
                <a:lnTo>
                  <a:pt x="3991646" y="2765121"/>
                </a:lnTo>
                <a:lnTo>
                  <a:pt x="0" y="27651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DAG0SeJCUOM</dc:identifier>
  <dcterms:modified xsi:type="dcterms:W3CDTF">2011-08-01T06:04:30Z</dcterms:modified>
  <cp:revision>1</cp:revision>
  <dc:title>Brown and Beige Creative Illustration Book Club Presentation</dc:title>
</cp:coreProperties>
</file>